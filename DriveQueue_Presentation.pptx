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926038-900C-4E0F-9B69-37718BC34077}"/>
              </a:ext>
            </a:extLst>
          </p:cNvPr>
          <p:cNvSpPr>
            <a:spLocks noGrp="1"/>
          </p:cNvSpPr>
          <p:nvPr/>
        </p:nvSpPr>
        <p:spPr>
          <a:xfrm>
            <a:off x="723900" y="1219200"/>
            <a:ext cx="609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4B8E8-24C1-4EE2-973D-E7922C2DDE5B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8572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Discrete Event Simulation of a Drive-Thru Service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27413-21AB-4683-88A8-F2953E90B8FA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7905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Performance Optimization for Queue Waiting Time, Throughput, Bottlenecks, and Lost Sales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49A479-9095-4E03-BA0F-901A3757718C}"/>
              </a:ext>
            </a:extLst>
          </p:cNvPr>
          <p:cNvSpPr>
            <a:spLocks noGrp="1"/>
          </p:cNvSpPr>
          <p:nvPr/>
        </p:nvSpPr>
        <p:spPr>
          <a:xfrm>
            <a:off x="8798814" y="1530096"/>
            <a:ext cx="2857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128E5-CEEA-4F1E-AA92-E5354A2E5E2D}"/>
              </a:ext>
            </a:extLst>
          </p:cNvPr>
          <p:cNvSpPr>
            <a:spLocks noGrp="1"/>
          </p:cNvSpPr>
          <p:nvPr/>
        </p:nvSpPr>
        <p:spPr>
          <a:xfrm>
            <a:off x="8926830" y="1727073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Core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E74D27-001C-4100-A257-C5B32BB0C8A8}"/>
              </a:ext>
            </a:extLst>
          </p:cNvPr>
          <p:cNvSpPr>
            <a:spLocks noGrp="1"/>
          </p:cNvSpPr>
          <p:nvPr/>
        </p:nvSpPr>
        <p:spPr>
          <a:xfrm>
            <a:off x="9009126" y="2133600"/>
            <a:ext cx="2190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Arrival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FIFO Queue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Order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Payment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Pickup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Departure</a:t>
            </a:r>
          </a:p>
        </p:txBody>
      </p:sp>
    </p:spTree>
    <p:extLst>
      <p:ext uri="{BB962C8B-B14F-4D97-AF65-F5344CB8AC3E}">
        <p14:creationId xmlns:p14="http://schemas.microsoft.com/office/powerpoint/2010/main" val="1799505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A89E6E9-E987-42AD-A6F8-9C6725CEA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Problem Definition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FC5C5B-8EDB-4498-BE97-3C8260D4B813}"/>
              </a:ext>
            </a:extLst>
          </p:cNvPr>
          <p:cNvSpPr>
            <a:spLocks noGrp="1"/>
          </p:cNvSpPr>
          <p:nvPr/>
        </p:nvSpPr>
        <p:spPr>
          <a:xfrm>
            <a:off x="628650" y="1009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Drive-thru service challenges during normal and peak demand.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04EE88-94D4-4EB2-921A-EAF5611DD477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E342943-C102-4C25-995E-A36DA0E62DD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2F378E-B207-4EC4-8210-B55535A3848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9530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40035-B369-44DA-94EA-7EB60AC52B3D}"/>
              </a:ext>
            </a:extLst>
          </p:cNvPr>
          <p:cNvSpPr>
            <a:spLocks noGrp="1"/>
          </p:cNvSpPr>
          <p:nvPr/>
        </p:nvSpPr>
        <p:spPr>
          <a:xfrm>
            <a:off x="1028700" y="2133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A1907D-932F-453D-AB3B-C7B4DE6ABB5B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Customer arrivals fluctuate during the day.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Service capacity may stay fixed even when demand rises.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Long queues reduce customer satisfaction.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A full lane creates rejected vehicles and lost sales.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CF8921-1BB3-44A4-AC12-1D93FDCA8622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4953000" cy="3238500"/>
          </a:xfrm>
          <a:prstGeom prst="roundRect">
            <a:avLst>
              <a:gd name="adj" fmla="val 3529"/>
            </a:avLst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61BD43-ADEA-41BC-BCBA-12D555C18040}"/>
              </a:ext>
            </a:extLst>
          </p:cNvPr>
          <p:cNvSpPr>
            <a:spLocks noGrp="1"/>
          </p:cNvSpPr>
          <p:nvPr/>
        </p:nvSpPr>
        <p:spPr>
          <a:xfrm>
            <a:off x="6629400" y="21336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Why simulation helps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8FA6BE-6BBC-4CC0-8B50-58FCD6EB7AAF}"/>
              </a:ext>
            </a:extLst>
          </p:cNvPr>
          <p:cNvSpPr>
            <a:spLocks noGrp="1"/>
          </p:cNvSpPr>
          <p:nvPr/>
        </p:nvSpPr>
        <p:spPr>
          <a:xfrm>
            <a:off x="6629400" y="2667000"/>
            <a:ext cx="4095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Tests scenarios before real changes are made.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Shows the bottleneck stage clearly.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Measures waiting time, throughput, and utilization.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Supports practical staffing and capacity decisions.</a:t>
            </a:r>
          </a:p>
        </p:txBody>
      </p:sp>
    </p:spTree>
    <p:extLst>
      <p:ext uri="{BB962C8B-B14F-4D97-AF65-F5344CB8AC3E}">
        <p14:creationId xmlns:p14="http://schemas.microsoft.com/office/powerpoint/2010/main" val="153841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D7458CE-50A4-4C14-AF2F-32EF52224D2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Simulation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BCF3AF-ABD6-439C-961A-55E4512B3F75}"/>
              </a:ext>
            </a:extLst>
          </p:cNvPr>
          <p:cNvSpPr>
            <a:spLocks noGrp="1"/>
          </p:cNvSpPr>
          <p:nvPr/>
        </p:nvSpPr>
        <p:spPr>
          <a:xfrm>
            <a:off x="628650" y="1009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project measures service performance and compares improvement scenarios.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F993BA-DDE7-472D-96D4-0DE0467D8853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A8F1F72-0F61-42D5-B22B-BCC8CF4CD8E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9F8B8F-B8B8-488C-891C-FA0A31F1A208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C92D4-9458-4DEC-BAEC-F8C1F3E6E8CA}"/>
              </a:ext>
            </a:extLst>
          </p:cNvPr>
          <p:cNvSpPr>
            <a:spLocks noGrp="1"/>
          </p:cNvSpPr>
          <p:nvPr/>
        </p:nvSpPr>
        <p:spPr>
          <a:xfrm>
            <a:off x="971550" y="2038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2B54C1-3A9D-4478-AE41-7939F2F6CB3F}"/>
              </a:ext>
            </a:extLst>
          </p:cNvPr>
          <p:cNvSpPr>
            <a:spLocks noGrp="1"/>
          </p:cNvSpPr>
          <p:nvPr/>
        </p:nvSpPr>
        <p:spPr>
          <a:xfrm>
            <a:off x="971550" y="24574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Average queue waiting time and total time in system.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47A189-7A08-4D9F-86CD-9C25921C0305}"/>
              </a:ext>
            </a:extLst>
          </p:cNvPr>
          <p:cNvSpPr>
            <a:spLocks noGrp="1"/>
          </p:cNvSpPr>
          <p:nvPr/>
        </p:nvSpPr>
        <p:spPr>
          <a:xfrm>
            <a:off x="4381500" y="180975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4D3314-0B45-4F13-98AE-2F5DAA6792FE}"/>
              </a:ext>
            </a:extLst>
          </p:cNvPr>
          <p:cNvSpPr>
            <a:spLocks noGrp="1"/>
          </p:cNvSpPr>
          <p:nvPr/>
        </p:nvSpPr>
        <p:spPr>
          <a:xfrm>
            <a:off x="4610100" y="2038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Identify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9A4E55-358D-485B-96AE-C1353D989577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bottleneck among order, payment, and pickup.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E2F023-8C8A-4658-9E2E-1AA3C2C23EFE}"/>
              </a:ext>
            </a:extLst>
          </p:cNvPr>
          <p:cNvSpPr>
            <a:spLocks noGrp="1"/>
          </p:cNvSpPr>
          <p:nvPr/>
        </p:nvSpPr>
        <p:spPr>
          <a:xfrm>
            <a:off x="8020050" y="180975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16EBE9-6016-4D18-B792-00F146CC3947}"/>
              </a:ext>
            </a:extLst>
          </p:cNvPr>
          <p:cNvSpPr>
            <a:spLocks noGrp="1"/>
          </p:cNvSpPr>
          <p:nvPr/>
        </p:nvSpPr>
        <p:spPr>
          <a:xfrm>
            <a:off x="8248650" y="2038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C63875-CFDB-4F28-AEE8-ACF89EC2804D}"/>
              </a:ext>
            </a:extLst>
          </p:cNvPr>
          <p:cNvSpPr>
            <a:spLocks noGrp="1"/>
          </p:cNvSpPr>
          <p:nvPr/>
        </p:nvSpPr>
        <p:spPr>
          <a:xfrm>
            <a:off x="8248650" y="24574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Throughput, service utilization, and accepted vehicles.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A1708F-DE41-405D-BF1D-1190BF305245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F5847D-0EDA-4E7A-AE11-FA911ACA3405}"/>
              </a:ext>
            </a:extLst>
          </p:cNvPr>
          <p:cNvSpPr>
            <a:spLocks noGrp="1"/>
          </p:cNvSpPr>
          <p:nvPr/>
        </p:nvSpPr>
        <p:spPr>
          <a:xfrm>
            <a:off x="971550" y="3848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2C0FC6-9585-48E3-8847-1A4CD8EE66FD}"/>
              </a:ext>
            </a:extLst>
          </p:cNvPr>
          <p:cNvSpPr>
            <a:spLocks noGrp="1"/>
          </p:cNvSpPr>
          <p:nvPr/>
        </p:nvSpPr>
        <p:spPr>
          <a:xfrm>
            <a:off x="971550" y="42672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Baseline, peak demand, and optimized capacity scenarios.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95FB40-FFF6-4BA0-A9D8-786F5B650101}"/>
              </a:ext>
            </a:extLst>
          </p:cNvPr>
          <p:cNvSpPr>
            <a:spLocks noGrp="1"/>
          </p:cNvSpPr>
          <p:nvPr/>
        </p:nvSpPr>
        <p:spPr>
          <a:xfrm>
            <a:off x="4381500" y="361950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F98D03-EE90-4F78-B055-C498227D1935}"/>
              </a:ext>
            </a:extLst>
          </p:cNvPr>
          <p:cNvSpPr>
            <a:spLocks noGrp="1"/>
          </p:cNvSpPr>
          <p:nvPr/>
        </p:nvSpPr>
        <p:spPr>
          <a:xfrm>
            <a:off x="4610100" y="3848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Recommend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74AC76-38EB-4513-BFBD-2423134094B8}"/>
              </a:ext>
            </a:extLst>
          </p:cNvPr>
          <p:cNvSpPr>
            <a:spLocks noGrp="1"/>
          </p:cNvSpPr>
          <p:nvPr/>
        </p:nvSpPr>
        <p:spPr>
          <a:xfrm>
            <a:off x="4610100" y="426720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Practical changes that reduce waiting and congestion.</a:t>
            </a:r>
          </a:p>
        </p:txBody>
      </p:sp>
    </p:spTree>
    <p:extLst>
      <p:ext uri="{BB962C8B-B14F-4D97-AF65-F5344CB8AC3E}">
        <p14:creationId xmlns:p14="http://schemas.microsoft.com/office/powerpoint/2010/main" val="253043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0A1D437-7A96-42E2-AA8C-C943AEBBDAC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Process 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FF305A-3E4B-4A5C-8676-867AD58A5AAC}"/>
              </a:ext>
            </a:extLst>
          </p:cNvPr>
          <p:cNvSpPr>
            <a:spLocks noGrp="1"/>
          </p:cNvSpPr>
          <p:nvPr/>
        </p:nvSpPr>
        <p:spPr>
          <a:xfrm>
            <a:off x="628650" y="1009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DriveQueue follows a first-in, first-out drive-thru service flow.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C9E5EB-1D89-4ACD-958C-C6F150ABCDF3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9A53152-A3BC-43FE-B9DD-ACCE7612CE1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9B3EE2-4CC3-499E-893C-F2F5A27CC060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Vehicle Arrival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CFCAEF-50CB-47BD-B210-B9F53228EBAC}"/>
              </a:ext>
            </a:extLst>
          </p:cNvPr>
          <p:cNvSpPr>
            <a:spLocks noGrp="1"/>
          </p:cNvSpPr>
          <p:nvPr/>
        </p:nvSpPr>
        <p:spPr>
          <a:xfrm>
            <a:off x="2571750" y="257175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FIFO Queue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9DAAEA-A8F7-40B7-8C7A-D527D44E53AC}"/>
              </a:ext>
            </a:extLst>
          </p:cNvPr>
          <p:cNvSpPr>
            <a:spLocks noGrp="1"/>
          </p:cNvSpPr>
          <p:nvPr/>
        </p:nvSpPr>
        <p:spPr>
          <a:xfrm>
            <a:off x="4429125" y="257175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16A34A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Order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48D244-53C5-41A9-8210-5D9507DDE204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431E29-2840-460D-B436-3662F0C6E528}"/>
              </a:ext>
            </a:extLst>
          </p:cNvPr>
          <p:cNvSpPr>
            <a:spLocks noGrp="1"/>
          </p:cNvSpPr>
          <p:nvPr/>
        </p:nvSpPr>
        <p:spPr>
          <a:xfrm>
            <a:off x="8143875" y="257175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DC2626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660DD6-41FA-4941-BF0B-75606944640B}"/>
              </a:ext>
            </a:extLst>
          </p:cNvPr>
          <p:cNvSpPr>
            <a:spLocks noGrp="1"/>
          </p:cNvSpPr>
          <p:nvPr/>
        </p:nvSpPr>
        <p:spPr>
          <a:xfrm>
            <a:off x="10001250" y="257175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8575">
            <a:solidFill>
              <a:srgbClr val="475569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Departure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E6F4CCB-2596-497A-B4CF-8CC69CB42C93}"/>
              </a:ext>
            </a:extLst>
          </p:cNvPr>
          <p:cNvSpPr>
            <a:spLocks noGrp="1"/>
          </p:cNvSpPr>
          <p:nvPr/>
        </p:nvSpPr>
        <p:spPr>
          <a:xfrm>
            <a:off x="2181225" y="2905125"/>
            <a:ext cx="390525" cy="209550"/>
          </a:xfrm>
          <a:prstGeom prst="rightArrow">
            <a:avLst/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EA557E0-50CC-449B-8C9C-B8D1C2BE8007}"/>
              </a:ext>
            </a:extLst>
          </p:cNvPr>
          <p:cNvSpPr>
            <a:spLocks noGrp="1"/>
          </p:cNvSpPr>
          <p:nvPr/>
        </p:nvSpPr>
        <p:spPr>
          <a:xfrm>
            <a:off x="4038600" y="2905125"/>
            <a:ext cx="390525" cy="209550"/>
          </a:xfrm>
          <a:prstGeom prst="rightArrow">
            <a:avLst/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3303DFF-96FA-4541-994E-D0D0E3A995D8}"/>
              </a:ext>
            </a:extLst>
          </p:cNvPr>
          <p:cNvSpPr>
            <a:spLocks noGrp="1"/>
          </p:cNvSpPr>
          <p:nvPr/>
        </p:nvSpPr>
        <p:spPr>
          <a:xfrm>
            <a:off x="5895975" y="2905125"/>
            <a:ext cx="390525" cy="209550"/>
          </a:xfrm>
          <a:prstGeom prst="rightArrow">
            <a:avLst/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D6C2E92-3C8A-49D1-BE3A-1B3496AA953F}"/>
              </a:ext>
            </a:extLst>
          </p:cNvPr>
          <p:cNvSpPr>
            <a:spLocks noGrp="1"/>
          </p:cNvSpPr>
          <p:nvPr/>
        </p:nvSpPr>
        <p:spPr>
          <a:xfrm>
            <a:off x="7753350" y="2905125"/>
            <a:ext cx="390525" cy="209550"/>
          </a:xfrm>
          <a:prstGeom prst="rightArrow">
            <a:avLst/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C4856BB-DDDD-4EF9-B9D6-A86166FA708B}"/>
              </a:ext>
            </a:extLst>
          </p:cNvPr>
          <p:cNvSpPr>
            <a:spLocks noGrp="1"/>
          </p:cNvSpPr>
          <p:nvPr/>
        </p:nvSpPr>
        <p:spPr>
          <a:xfrm>
            <a:off x="9610725" y="2905125"/>
            <a:ext cx="390525" cy="209550"/>
          </a:xfrm>
          <a:prstGeom prst="rightArrow">
            <a:avLst/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7969660-6D9B-4F21-94E5-2909B7BCCB33}"/>
              </a:ext>
            </a:extLst>
          </p:cNvPr>
          <p:cNvSpPr>
            <a:spLocks noGrp="1"/>
          </p:cNvSpPr>
          <p:nvPr/>
        </p:nvSpPr>
        <p:spPr>
          <a:xfrm>
            <a:off x="2362200" y="4114800"/>
            <a:ext cx="7429500" cy="933450"/>
          </a:xfrm>
          <a:prstGeom prst="roundRect">
            <a:avLst>
              <a:gd name="adj" fmla="val 12245"/>
            </a:avLst>
          </a:prstGeom>
          <a:solidFill>
            <a:srgbClr val="FFF7ED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AAB1A5-9D42-443F-B2CD-C50FC3FE4B0A}"/>
              </a:ext>
            </a:extLst>
          </p:cNvPr>
          <p:cNvSpPr>
            <a:spLocks noGrp="1"/>
          </p:cNvSpPr>
          <p:nvPr/>
        </p:nvSpPr>
        <p:spPr>
          <a:xfrm>
            <a:off x="2650998" y="4238625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9A3412"/>
                </a:solidFill>
                <a:latin typeface="Aptos"/>
                <a:ea typeface="Aptos"/>
                <a:cs typeface="Aptos"/>
              </a:rPr>
              <a:t>Lane capacity rule: if the drive-thru lane is full when a vehicle arrives, that vehicle is rejected and counted as a lost sale.</a:t>
            </a:r>
          </a:p>
        </p:txBody>
      </p:sp>
    </p:spTree>
    <p:extLst>
      <p:ext uri="{BB962C8B-B14F-4D97-AF65-F5344CB8AC3E}">
        <p14:creationId xmlns:p14="http://schemas.microsoft.com/office/powerpoint/2010/main" val="502184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87487BD-AB0A-4921-8B22-951157CDEFA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Assumptions and Input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64DB71-6E55-4D98-9211-414DF400A627}"/>
              </a:ext>
            </a:extLst>
          </p:cNvPr>
          <p:cNvSpPr>
            <a:spLocks noGrp="1"/>
          </p:cNvSpPr>
          <p:nvPr/>
        </p:nvSpPr>
        <p:spPr>
          <a:xfrm>
            <a:off x="628650" y="1009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Input values used for the base simulation runs.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95C19-2E1F-47EF-B7CF-BA5C058247EC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8760E30-436A-4A7D-9EDA-9309D93F252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D2A17B-CD03-4A88-9752-05795CDB4FD9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504825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8B13A8-A99A-4511-8987-81BE76FEEB38}"/>
              </a:ext>
            </a:extLst>
          </p:cNvPr>
          <p:cNvSpPr>
            <a:spLocks noGrp="1"/>
          </p:cNvSpPr>
          <p:nvPr/>
        </p:nvSpPr>
        <p:spPr>
          <a:xfrm>
            <a:off x="1066800" y="2152650"/>
            <a:ext cx="42862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Arrivals follow a Poisson-style process.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Normal arrival rate: 12 vehicles per hour.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Peak period: 11:00 AM to 2:00 PM.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Peak demand is modeled with a multiplier.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Vehicles are served using FIFO queue discipline.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AB4C60-5E64-4B14-AE19-209BD4D94A2B}"/>
              </a:ext>
            </a:extLst>
          </p:cNvPr>
          <p:cNvSpPr>
            <a:spLocks noGrp="1"/>
          </p:cNvSpPr>
          <p:nvPr/>
        </p:nvSpPr>
        <p:spPr>
          <a:xfrm>
            <a:off x="6429375" y="1790700"/>
            <a:ext cx="495300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BA15E1-9356-454E-8F9A-4F9B655A8F3F}"/>
              </a:ext>
            </a:extLst>
          </p:cNvPr>
          <p:cNvSpPr>
            <a:spLocks noGrp="1"/>
          </p:cNvSpPr>
          <p:nvPr/>
        </p:nvSpPr>
        <p:spPr>
          <a:xfrm>
            <a:off x="6781800" y="21526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Service-time assumptions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C5315-ACA5-4610-A6B2-A13A5B219E99}"/>
              </a:ext>
            </a:extLst>
          </p:cNvPr>
          <p:cNvSpPr>
            <a:spLocks noGrp="1"/>
          </p:cNvSpPr>
          <p:nvPr/>
        </p:nvSpPr>
        <p:spPr>
          <a:xfrm>
            <a:off x="6781800" y="2724150"/>
            <a:ext cx="3905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Order: 1-3 minutes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Payment: 0.5-1 minute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Pickup: 1-2 minutes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Baseline capacity: 1 station/window per stage</a:t>
            </a: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Lane capacity: 10 vehicles</a:t>
            </a:r>
          </a:p>
        </p:txBody>
      </p:sp>
    </p:spTree>
    <p:extLst>
      <p:ext uri="{BB962C8B-B14F-4D97-AF65-F5344CB8AC3E}">
        <p14:creationId xmlns:p14="http://schemas.microsoft.com/office/powerpoint/2010/main" val="193965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B69DA13-A355-46B9-A3E6-17B506399A3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Implementation Details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2B8A7C-DEE5-4905-8AD2-C5AE2E918E3C}"/>
              </a:ext>
            </a:extLst>
          </p:cNvPr>
          <p:cNvSpPr>
            <a:spLocks noGrp="1"/>
          </p:cNvSpPr>
          <p:nvPr/>
        </p:nvSpPr>
        <p:spPr>
          <a:xfrm>
            <a:off x="628650" y="1009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DriveQueue combines a SimPy model with a Tkinter visualization interface.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8F434-2729-4CCE-9A73-E806DEF6263D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29A127E-1423-488B-9303-4D40105F1EB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F6FCD1-891A-44EC-92EA-88A3AD2B3EB0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42887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707749-A04F-405D-B9C6-027526ABAA2D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SimPy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1342A8-A1A1-466C-BF1D-44EA8A1BFFC8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Simulation engine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371B16-2726-4F66-AC29-43FA3D0CFE45}"/>
              </a:ext>
            </a:extLst>
          </p:cNvPr>
          <p:cNvSpPr>
            <a:spLocks noGrp="1"/>
          </p:cNvSpPr>
          <p:nvPr/>
        </p:nvSpPr>
        <p:spPr>
          <a:xfrm>
            <a:off x="3524250" y="1866900"/>
            <a:ext cx="242887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BA44FD-2512-4D61-967F-81AA47E71D9B}"/>
              </a:ext>
            </a:extLst>
          </p:cNvPr>
          <p:cNvSpPr>
            <a:spLocks noGrp="1"/>
          </p:cNvSpPr>
          <p:nvPr/>
        </p:nvSpPr>
        <p:spPr>
          <a:xfrm>
            <a:off x="3733800" y="20955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Tkinter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097F9-E5D8-4E4D-984C-929005E02582}"/>
              </a:ext>
            </a:extLst>
          </p:cNvPr>
          <p:cNvSpPr>
            <a:spLocks noGrp="1"/>
          </p:cNvSpPr>
          <p:nvPr/>
        </p:nvSpPr>
        <p:spPr>
          <a:xfrm>
            <a:off x="3733800" y="26098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Desktop interface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F20EEA-69AC-40C9-BDB4-3F84A7B358C0}"/>
              </a:ext>
            </a:extLst>
          </p:cNvPr>
          <p:cNvSpPr>
            <a:spLocks noGrp="1"/>
          </p:cNvSpPr>
          <p:nvPr/>
        </p:nvSpPr>
        <p:spPr>
          <a:xfrm>
            <a:off x="6305550" y="1866900"/>
            <a:ext cx="242887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2F2F97-0AE3-4F67-A499-AA307BBC6389}"/>
              </a:ext>
            </a:extLst>
          </p:cNvPr>
          <p:cNvSpPr>
            <a:spLocks noGrp="1"/>
          </p:cNvSpPr>
          <p:nvPr/>
        </p:nvSpPr>
        <p:spPr>
          <a:xfrm>
            <a:off x="6515100" y="20955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FIFO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88BC70-FE54-4E32-A2B3-D1F194DC5255}"/>
              </a:ext>
            </a:extLst>
          </p:cNvPr>
          <p:cNvSpPr>
            <a:spLocks noGrp="1"/>
          </p:cNvSpPr>
          <p:nvPr/>
        </p:nvSpPr>
        <p:spPr>
          <a:xfrm>
            <a:off x="6515100" y="26098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Queue rule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00F735-CF45-4013-83F8-5131F8260222}"/>
              </a:ext>
            </a:extLst>
          </p:cNvPr>
          <p:cNvSpPr>
            <a:spLocks noGrp="1"/>
          </p:cNvSpPr>
          <p:nvPr/>
        </p:nvSpPr>
        <p:spPr>
          <a:xfrm>
            <a:off x="9086850" y="1866900"/>
            <a:ext cx="242887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411618-981D-46B8-BC08-F27CBE094229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F59E0B"/>
                </a:solidFill>
                <a:latin typeface="Aptos"/>
                <a:ea typeface="Aptos"/>
                <a:cs typeface="Aptos"/>
              </a:rPr>
              <a:t>KPIs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423651-E33B-43B9-A893-67FB1BF52CAA}"/>
              </a:ext>
            </a:extLst>
          </p:cNvPr>
          <p:cNvSpPr>
            <a:spLocks noGrp="1"/>
          </p:cNvSpPr>
          <p:nvPr/>
        </p:nvSpPr>
        <p:spPr>
          <a:xfrm>
            <a:off x="9296400" y="26098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Measured output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1ABB6D2-191B-4A21-B1B0-BE9C962718A8}"/>
              </a:ext>
            </a:extLst>
          </p:cNvPr>
          <p:cNvSpPr>
            <a:spLocks noGrp="1"/>
          </p:cNvSpPr>
          <p:nvPr/>
        </p:nvSpPr>
        <p:spPr>
          <a:xfrm>
            <a:off x="1428750" y="3714750"/>
            <a:ext cx="93345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1CA6E7-E2ED-4637-8588-DA345212EE9B}"/>
              </a:ext>
            </a:extLst>
          </p:cNvPr>
          <p:cNvSpPr>
            <a:spLocks noGrp="1"/>
          </p:cNvSpPr>
          <p:nvPr/>
        </p:nvSpPr>
        <p:spPr>
          <a:xfrm>
            <a:off x="1809750" y="40576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interface allows the user to adjust duration, arrival rate, peak multiplier, service-window counts, lane capacity, and random seed. It also shows animated vehicle movement, event logs, performance metrics, bottleneck detection, and scenario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06144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10168E26-DD1E-4BF7-82BC-05D2737C0FD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Experimental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E3B005-4AA1-4B6F-9302-111C9AF5BB1E}"/>
              </a:ext>
            </a:extLst>
          </p:cNvPr>
          <p:cNvSpPr>
            <a:spLocks noGrp="1"/>
          </p:cNvSpPr>
          <p:nvPr/>
        </p:nvSpPr>
        <p:spPr>
          <a:xfrm>
            <a:off x="628650" y="1009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Scenario comparison using served vehicles, rejected vehicles, waiting time, and system time.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D3E8D2-2C09-4E82-A116-9564FD90F64F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EF11584-B1D0-4B85-9835-EA339BCFC16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FF4D1-D3F5-49B9-8820-FD67CEE19C81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2000250" cy="476250"/>
          </a:xfrm>
          <a:prstGeom prst="rect">
            <a:avLst/>
          </a:prstGeom>
          <a:solidFill>
            <a:srgbClr val="0F17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23427D-518E-4192-B0D9-4F685E668CD1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689A49-760D-45AA-B8CC-DF312D8B958D}"/>
              </a:ext>
            </a:extLst>
          </p:cNvPr>
          <p:cNvSpPr>
            <a:spLocks noGrp="1"/>
          </p:cNvSpPr>
          <p:nvPr/>
        </p:nvSpPr>
        <p:spPr>
          <a:xfrm>
            <a:off x="2800350" y="2000250"/>
            <a:ext cx="1238250" cy="476250"/>
          </a:xfrm>
          <a:prstGeom prst="rect">
            <a:avLst/>
          </a:prstGeom>
          <a:solidFill>
            <a:srgbClr val="0F17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F237C-2F38-4398-9353-6BF849702ACB}"/>
              </a:ext>
            </a:extLst>
          </p:cNvPr>
          <p:cNvSpPr>
            <a:spLocks noGrp="1"/>
          </p:cNvSpPr>
          <p:nvPr/>
        </p:nvSpPr>
        <p:spPr>
          <a:xfrm>
            <a:off x="2895600" y="21336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3AECBF-2475-4390-B779-1339D1927C79}"/>
              </a:ext>
            </a:extLst>
          </p:cNvPr>
          <p:cNvSpPr>
            <a:spLocks noGrp="1"/>
          </p:cNvSpPr>
          <p:nvPr/>
        </p:nvSpPr>
        <p:spPr>
          <a:xfrm>
            <a:off x="4038600" y="2000250"/>
            <a:ext cx="1238250" cy="476250"/>
          </a:xfrm>
          <a:prstGeom prst="rect">
            <a:avLst/>
          </a:prstGeom>
          <a:solidFill>
            <a:srgbClr val="0F17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7A507-67B0-4B73-8831-38587CF9388C}"/>
              </a:ext>
            </a:extLst>
          </p:cNvPr>
          <p:cNvSpPr>
            <a:spLocks noGrp="1"/>
          </p:cNvSpPr>
          <p:nvPr/>
        </p:nvSpPr>
        <p:spPr>
          <a:xfrm>
            <a:off x="4133850" y="21336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8D569-A6FF-4E0C-90DB-F050B792FB22}"/>
              </a:ext>
            </a:extLst>
          </p:cNvPr>
          <p:cNvSpPr>
            <a:spLocks noGrp="1"/>
          </p:cNvSpPr>
          <p:nvPr/>
        </p:nvSpPr>
        <p:spPr>
          <a:xfrm>
            <a:off x="5276850" y="2000250"/>
            <a:ext cx="1238250" cy="476250"/>
          </a:xfrm>
          <a:prstGeom prst="rect">
            <a:avLst/>
          </a:prstGeom>
          <a:solidFill>
            <a:srgbClr val="0F17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4BB9EA-6F8F-469B-BBBD-6DA8A6CACE2F}"/>
              </a:ext>
            </a:extLst>
          </p:cNvPr>
          <p:cNvSpPr>
            <a:spLocks noGrp="1"/>
          </p:cNvSpPr>
          <p:nvPr/>
        </p:nvSpPr>
        <p:spPr>
          <a:xfrm>
            <a:off x="5372100" y="21336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TP/hr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56D84-8A89-4AF3-B489-2768F18DEC22}"/>
              </a:ext>
            </a:extLst>
          </p:cNvPr>
          <p:cNvSpPr>
            <a:spLocks noGrp="1"/>
          </p:cNvSpPr>
          <p:nvPr/>
        </p:nvSpPr>
        <p:spPr>
          <a:xfrm>
            <a:off x="6515100" y="2000250"/>
            <a:ext cx="1428750" cy="476250"/>
          </a:xfrm>
          <a:prstGeom prst="rect">
            <a:avLst/>
          </a:prstGeom>
          <a:solidFill>
            <a:srgbClr val="0F17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329992-18DD-4B91-8979-CD2B88D9DC03}"/>
              </a:ext>
            </a:extLst>
          </p:cNvPr>
          <p:cNvSpPr>
            <a:spLocks noGrp="1"/>
          </p:cNvSpPr>
          <p:nvPr/>
        </p:nvSpPr>
        <p:spPr>
          <a:xfrm>
            <a:off x="6610350" y="21336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Wait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4EC61A-33B2-430A-9A45-381C11901C45}"/>
              </a:ext>
            </a:extLst>
          </p:cNvPr>
          <p:cNvSpPr>
            <a:spLocks noGrp="1"/>
          </p:cNvSpPr>
          <p:nvPr/>
        </p:nvSpPr>
        <p:spPr>
          <a:xfrm>
            <a:off x="7943850" y="2000250"/>
            <a:ext cx="1476375" cy="476250"/>
          </a:xfrm>
          <a:prstGeom prst="rect">
            <a:avLst/>
          </a:prstGeom>
          <a:solidFill>
            <a:srgbClr val="0F17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98691C-8660-4C11-B8D8-DB40FD4DC506}"/>
              </a:ext>
            </a:extLst>
          </p:cNvPr>
          <p:cNvSpPr>
            <a:spLocks noGrp="1"/>
          </p:cNvSpPr>
          <p:nvPr/>
        </p:nvSpPr>
        <p:spPr>
          <a:xfrm>
            <a:off x="8039100" y="2133600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System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81AC9A-5461-4613-8087-4214845457DC}"/>
              </a:ext>
            </a:extLst>
          </p:cNvPr>
          <p:cNvSpPr>
            <a:spLocks noGrp="1"/>
          </p:cNvSpPr>
          <p:nvPr/>
        </p:nvSpPr>
        <p:spPr>
          <a:xfrm>
            <a:off x="9420225" y="2000250"/>
            <a:ext cx="1524000" cy="476250"/>
          </a:xfrm>
          <a:prstGeom prst="rect">
            <a:avLst/>
          </a:prstGeom>
          <a:solidFill>
            <a:srgbClr val="0F172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A3284-51A1-4F99-BE3B-8293907C35F5}"/>
              </a:ext>
            </a:extLst>
          </p:cNvPr>
          <p:cNvSpPr>
            <a:spLocks noGrp="1"/>
          </p:cNvSpPr>
          <p:nvPr/>
        </p:nvSpPr>
        <p:spPr>
          <a:xfrm>
            <a:off x="9515475" y="21336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Acceptance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A05228-0937-4529-9FB6-D48A23DCAF7C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044C56-55FB-40A1-937A-D212FC50D921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8BEF1C-DBA2-40B1-8F4C-9E562D2838E9}"/>
              </a:ext>
            </a:extLst>
          </p:cNvPr>
          <p:cNvSpPr>
            <a:spLocks noGrp="1"/>
          </p:cNvSpPr>
          <p:nvPr/>
        </p:nvSpPr>
        <p:spPr>
          <a:xfrm>
            <a:off x="2800350" y="247650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C2E8F7-F86C-457F-B953-9D545D7EE647}"/>
              </a:ext>
            </a:extLst>
          </p:cNvPr>
          <p:cNvSpPr>
            <a:spLocks noGrp="1"/>
          </p:cNvSpPr>
          <p:nvPr/>
        </p:nvSpPr>
        <p:spPr>
          <a:xfrm>
            <a:off x="2895600" y="26670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297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5D2984-CCD2-44D4-83D7-9EEDF550D3A0}"/>
              </a:ext>
            </a:extLst>
          </p:cNvPr>
          <p:cNvSpPr>
            <a:spLocks noGrp="1"/>
          </p:cNvSpPr>
          <p:nvPr/>
        </p:nvSpPr>
        <p:spPr>
          <a:xfrm>
            <a:off x="4038600" y="247650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99A004-6645-4C64-B41B-200A9415F337}"/>
              </a:ext>
            </a:extLst>
          </p:cNvPr>
          <p:cNvSpPr>
            <a:spLocks noGrp="1"/>
          </p:cNvSpPr>
          <p:nvPr/>
        </p:nvSpPr>
        <p:spPr>
          <a:xfrm>
            <a:off x="4133850" y="26670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869E46-F746-43F3-9B2A-185BF41DEDF9}"/>
              </a:ext>
            </a:extLst>
          </p:cNvPr>
          <p:cNvSpPr>
            <a:spLocks noGrp="1"/>
          </p:cNvSpPr>
          <p:nvPr/>
        </p:nvSpPr>
        <p:spPr>
          <a:xfrm>
            <a:off x="5276850" y="247650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677587-C144-4156-AAFB-2A622415CA86}"/>
              </a:ext>
            </a:extLst>
          </p:cNvPr>
          <p:cNvSpPr>
            <a:spLocks noGrp="1"/>
          </p:cNvSpPr>
          <p:nvPr/>
        </p:nvSpPr>
        <p:spPr>
          <a:xfrm>
            <a:off x="5372100" y="26670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12.4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40AFDD-E508-4818-ABCF-6BDF75817D08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836EEB-AAD4-4DC5-99B7-C6C0E6311BA5}"/>
              </a:ext>
            </a:extLst>
          </p:cNvPr>
          <p:cNvSpPr>
            <a:spLocks noGrp="1"/>
          </p:cNvSpPr>
          <p:nvPr/>
        </p:nvSpPr>
        <p:spPr>
          <a:xfrm>
            <a:off x="6610350" y="26670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2.02 min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C10AB6-F9D9-4E6F-AA5A-A24F90393542}"/>
              </a:ext>
            </a:extLst>
          </p:cNvPr>
          <p:cNvSpPr>
            <a:spLocks noGrp="1"/>
          </p:cNvSpPr>
          <p:nvPr/>
        </p:nvSpPr>
        <p:spPr>
          <a:xfrm>
            <a:off x="7943850" y="2476500"/>
            <a:ext cx="14763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9FC75B-006E-4161-A3F9-4712AF3872B2}"/>
              </a:ext>
            </a:extLst>
          </p:cNvPr>
          <p:cNvSpPr>
            <a:spLocks noGrp="1"/>
          </p:cNvSpPr>
          <p:nvPr/>
        </p:nvSpPr>
        <p:spPr>
          <a:xfrm>
            <a:off x="8039100" y="2667000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6.28 min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CDF3E7-0CEC-45A9-AF14-CD200660F5C7}"/>
              </a:ext>
            </a:extLst>
          </p:cNvPr>
          <p:cNvSpPr>
            <a:spLocks noGrp="1"/>
          </p:cNvSpPr>
          <p:nvPr/>
        </p:nvSpPr>
        <p:spPr>
          <a:xfrm>
            <a:off x="9420225" y="2476500"/>
            <a:ext cx="152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02C6C2-8A17-4357-884A-FF2AB6057CF7}"/>
              </a:ext>
            </a:extLst>
          </p:cNvPr>
          <p:cNvSpPr>
            <a:spLocks noGrp="1"/>
          </p:cNvSpPr>
          <p:nvPr/>
        </p:nvSpPr>
        <p:spPr>
          <a:xfrm>
            <a:off x="9515475" y="26670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99.3%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C3E702-E0D8-49AF-9E93-674F549304D4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3D70CD-1436-46E4-9AB9-03B35C22AB0F}"/>
              </a:ext>
            </a:extLst>
          </p:cNvPr>
          <p:cNvSpPr>
            <a:spLocks noGrp="1"/>
          </p:cNvSpPr>
          <p:nvPr/>
        </p:nvSpPr>
        <p:spPr>
          <a:xfrm>
            <a:off x="895350" y="32194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Peak demand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6CF1FF-4778-4BE6-9D53-7132A5E14260}"/>
              </a:ext>
            </a:extLst>
          </p:cNvPr>
          <p:cNvSpPr>
            <a:spLocks noGrp="1"/>
          </p:cNvSpPr>
          <p:nvPr/>
        </p:nvSpPr>
        <p:spPr>
          <a:xfrm>
            <a:off x="2800350" y="302895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154659-C51F-40FE-AA3D-6B64BA08B30C}"/>
              </a:ext>
            </a:extLst>
          </p:cNvPr>
          <p:cNvSpPr>
            <a:spLocks noGrp="1"/>
          </p:cNvSpPr>
          <p:nvPr/>
        </p:nvSpPr>
        <p:spPr>
          <a:xfrm>
            <a:off x="2895600" y="32194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344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D36B37-A0D3-4368-A005-B6CAD82DA467}"/>
              </a:ext>
            </a:extLst>
          </p:cNvPr>
          <p:cNvSpPr>
            <a:spLocks noGrp="1"/>
          </p:cNvSpPr>
          <p:nvPr/>
        </p:nvSpPr>
        <p:spPr>
          <a:xfrm>
            <a:off x="4038600" y="302895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6BB6C6-EBC6-421A-AF1C-186F17CDE541}"/>
              </a:ext>
            </a:extLst>
          </p:cNvPr>
          <p:cNvSpPr>
            <a:spLocks noGrp="1"/>
          </p:cNvSpPr>
          <p:nvPr/>
        </p:nvSpPr>
        <p:spPr>
          <a:xfrm>
            <a:off x="4133850" y="32194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D7B42E5-7134-4BAA-9FCE-B3945FD1B927}"/>
              </a:ext>
            </a:extLst>
          </p:cNvPr>
          <p:cNvSpPr>
            <a:spLocks noGrp="1"/>
          </p:cNvSpPr>
          <p:nvPr/>
        </p:nvSpPr>
        <p:spPr>
          <a:xfrm>
            <a:off x="5276850" y="302895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B3B8BD-E778-4C90-B77C-B4F5FD20F687}"/>
              </a:ext>
            </a:extLst>
          </p:cNvPr>
          <p:cNvSpPr>
            <a:spLocks noGrp="1"/>
          </p:cNvSpPr>
          <p:nvPr/>
        </p:nvSpPr>
        <p:spPr>
          <a:xfrm>
            <a:off x="5372100" y="32194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14.3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6010C4-ADA1-4D7F-8C85-DA352910A1BA}"/>
              </a:ext>
            </a:extLst>
          </p:cNvPr>
          <p:cNvSpPr>
            <a:spLocks noGrp="1"/>
          </p:cNvSpPr>
          <p:nvPr/>
        </p:nvSpPr>
        <p:spPr>
          <a:xfrm>
            <a:off x="6515100" y="302895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C42632-ABA2-4E90-B1BA-726194E326A3}"/>
              </a:ext>
            </a:extLst>
          </p:cNvPr>
          <p:cNvSpPr>
            <a:spLocks noGrp="1"/>
          </p:cNvSpPr>
          <p:nvPr/>
        </p:nvSpPr>
        <p:spPr>
          <a:xfrm>
            <a:off x="6610350" y="32194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2.86 min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678EC71-B0C9-48AA-8F0C-40438329BDF7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763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C15A2FE-0888-4087-B2D5-CAE91A04C27F}"/>
              </a:ext>
            </a:extLst>
          </p:cNvPr>
          <p:cNvSpPr>
            <a:spLocks noGrp="1"/>
          </p:cNvSpPr>
          <p:nvPr/>
        </p:nvSpPr>
        <p:spPr>
          <a:xfrm>
            <a:off x="8039100" y="3219450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7.12 min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1581FA1-12D4-4846-A6D1-8028288B814F}"/>
              </a:ext>
            </a:extLst>
          </p:cNvPr>
          <p:cNvSpPr>
            <a:spLocks noGrp="1"/>
          </p:cNvSpPr>
          <p:nvPr/>
        </p:nvSpPr>
        <p:spPr>
          <a:xfrm>
            <a:off x="9420225" y="3028950"/>
            <a:ext cx="152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EB1A29-B194-4667-9C3C-6184B4FD3BBE}"/>
              </a:ext>
            </a:extLst>
          </p:cNvPr>
          <p:cNvSpPr>
            <a:spLocks noGrp="1"/>
          </p:cNvSpPr>
          <p:nvPr/>
        </p:nvSpPr>
        <p:spPr>
          <a:xfrm>
            <a:off x="9515475" y="32194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93.8%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79975A-629B-40BC-8014-19533078E212}"/>
              </a:ext>
            </a:extLst>
          </p:cNvPr>
          <p:cNvSpPr>
            <a:spLocks noGrp="1"/>
          </p:cNvSpPr>
          <p:nvPr/>
        </p:nvSpPr>
        <p:spPr>
          <a:xfrm>
            <a:off x="800100" y="3581400"/>
            <a:ext cx="2000250" cy="552450"/>
          </a:xfrm>
          <a:prstGeom prst="rect">
            <a:avLst/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F34AC0A-3BA6-4780-94C2-5AB56461ABFE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Optimized cap.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8163AAF-B376-4058-A991-1CA146B9DEA6}"/>
              </a:ext>
            </a:extLst>
          </p:cNvPr>
          <p:cNvSpPr>
            <a:spLocks noGrp="1"/>
          </p:cNvSpPr>
          <p:nvPr/>
        </p:nvSpPr>
        <p:spPr>
          <a:xfrm>
            <a:off x="2800350" y="3581400"/>
            <a:ext cx="1238250" cy="552450"/>
          </a:xfrm>
          <a:prstGeom prst="rect">
            <a:avLst/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E0399A-B105-46C0-943D-DBEB065E789D}"/>
              </a:ext>
            </a:extLst>
          </p:cNvPr>
          <p:cNvSpPr>
            <a:spLocks noGrp="1"/>
          </p:cNvSpPr>
          <p:nvPr/>
        </p:nvSpPr>
        <p:spPr>
          <a:xfrm>
            <a:off x="2895600" y="3771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345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FDDEA2-F8CA-4792-9BC6-82A78B8D7922}"/>
              </a:ext>
            </a:extLst>
          </p:cNvPr>
          <p:cNvSpPr>
            <a:spLocks noGrp="1"/>
          </p:cNvSpPr>
          <p:nvPr/>
        </p:nvSpPr>
        <p:spPr>
          <a:xfrm>
            <a:off x="4038600" y="3581400"/>
            <a:ext cx="1238250" cy="552450"/>
          </a:xfrm>
          <a:prstGeom prst="rect">
            <a:avLst/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2DADA1-2BAE-47DE-83B4-4513FF4F21B2}"/>
              </a:ext>
            </a:extLst>
          </p:cNvPr>
          <p:cNvSpPr>
            <a:spLocks noGrp="1"/>
          </p:cNvSpPr>
          <p:nvPr/>
        </p:nvSpPr>
        <p:spPr>
          <a:xfrm>
            <a:off x="4133850" y="3771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61AE3B-923E-4927-ABB2-8643C12C7E4B}"/>
              </a:ext>
            </a:extLst>
          </p:cNvPr>
          <p:cNvSpPr>
            <a:spLocks noGrp="1"/>
          </p:cNvSpPr>
          <p:nvPr/>
        </p:nvSpPr>
        <p:spPr>
          <a:xfrm>
            <a:off x="5276850" y="3581400"/>
            <a:ext cx="1238250" cy="552450"/>
          </a:xfrm>
          <a:prstGeom prst="rect">
            <a:avLst/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835F08A-6D65-4DAF-AB15-0E6792988D05}"/>
              </a:ext>
            </a:extLst>
          </p:cNvPr>
          <p:cNvSpPr>
            <a:spLocks noGrp="1"/>
          </p:cNvSpPr>
          <p:nvPr/>
        </p:nvSpPr>
        <p:spPr>
          <a:xfrm>
            <a:off x="5372100" y="37719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14.4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935BEB5-BF8D-47DA-9907-8CE7140E7547}"/>
              </a:ext>
            </a:extLst>
          </p:cNvPr>
          <p:cNvSpPr>
            <a:spLocks noGrp="1"/>
          </p:cNvSpPr>
          <p:nvPr/>
        </p:nvSpPr>
        <p:spPr>
          <a:xfrm>
            <a:off x="6515100" y="3581400"/>
            <a:ext cx="1428750" cy="552450"/>
          </a:xfrm>
          <a:prstGeom prst="rect">
            <a:avLst/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158EA8-425D-492D-A18B-95D1F9EE56B3}"/>
              </a:ext>
            </a:extLst>
          </p:cNvPr>
          <p:cNvSpPr>
            <a:spLocks noGrp="1"/>
          </p:cNvSpPr>
          <p:nvPr/>
        </p:nvSpPr>
        <p:spPr>
          <a:xfrm>
            <a:off x="6610350" y="37719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0.29 min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D64500D-2294-4D3F-AB08-60CAEE8935E1}"/>
              </a:ext>
            </a:extLst>
          </p:cNvPr>
          <p:cNvSpPr>
            <a:spLocks noGrp="1"/>
          </p:cNvSpPr>
          <p:nvPr/>
        </p:nvSpPr>
        <p:spPr>
          <a:xfrm>
            <a:off x="7943850" y="3581400"/>
            <a:ext cx="1476375" cy="552450"/>
          </a:xfrm>
          <a:prstGeom prst="rect">
            <a:avLst/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9C65C1F-734F-4224-8689-5DA32816F889}"/>
              </a:ext>
            </a:extLst>
          </p:cNvPr>
          <p:cNvSpPr>
            <a:spLocks noGrp="1"/>
          </p:cNvSpPr>
          <p:nvPr/>
        </p:nvSpPr>
        <p:spPr>
          <a:xfrm>
            <a:off x="8039100" y="3771900"/>
            <a:ext cx="1285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4.51 min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F1D5E9D-CB96-409D-8770-E5B316E4747F}"/>
              </a:ext>
            </a:extLst>
          </p:cNvPr>
          <p:cNvSpPr>
            <a:spLocks noGrp="1"/>
          </p:cNvSpPr>
          <p:nvPr/>
        </p:nvSpPr>
        <p:spPr>
          <a:xfrm>
            <a:off x="9420225" y="3581400"/>
            <a:ext cx="1524000" cy="552450"/>
          </a:xfrm>
          <a:prstGeom prst="rect">
            <a:avLst/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A92FBB8-6FFC-4931-ABF6-4F06AD3E8549}"/>
              </a:ext>
            </a:extLst>
          </p:cNvPr>
          <p:cNvSpPr>
            <a:spLocks noGrp="1"/>
          </p:cNvSpPr>
          <p:nvPr/>
        </p:nvSpPr>
        <p:spPr>
          <a:xfrm>
            <a:off x="9515475" y="37719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100.0%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141408-70CF-432A-AE7E-B72210FCDAA2}"/>
              </a:ext>
            </a:extLst>
          </p:cNvPr>
          <p:cNvSpPr>
            <a:spLocks noGrp="1"/>
          </p:cNvSpPr>
          <p:nvPr/>
        </p:nvSpPr>
        <p:spPr>
          <a:xfrm>
            <a:off x="1143000" y="46196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Main reading: optimization keeps throughput high while removing rejected vehicles and sharply reducing waiting time.</a:t>
            </a:r>
          </a:p>
        </p:txBody>
      </p:sp>
    </p:spTree>
    <p:extLst>
      <p:ext uri="{BB962C8B-B14F-4D97-AF65-F5344CB8AC3E}">
        <p14:creationId xmlns:p14="http://schemas.microsoft.com/office/powerpoint/2010/main" val="2049132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B6F65FA-2388-4D02-A8D3-65B0049A025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Detailed Key Findings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8F0DDC-D5AF-4344-91E6-B96D255EE5A0}"/>
              </a:ext>
            </a:extLst>
          </p:cNvPr>
          <p:cNvSpPr>
            <a:spLocks noGrp="1"/>
          </p:cNvSpPr>
          <p:nvPr/>
        </p:nvSpPr>
        <p:spPr>
          <a:xfrm>
            <a:off x="628650" y="1009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results show where the drive-thru improves and where congestion appears.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38A74-BF42-4B98-8729-4875CCE1D000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4DFE82F-B4A4-41E3-AA14-F11CC2108BC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DAED08-07B2-447A-84DA-0640EE4F8193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4762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17476A-D06D-49D4-98E6-B0E8ACFEDB9B}"/>
              </a:ext>
            </a:extLst>
          </p:cNvPr>
          <p:cNvSpPr>
            <a:spLocks noGrp="1"/>
          </p:cNvSpPr>
          <p:nvPr/>
        </p:nvSpPr>
        <p:spPr>
          <a:xfrm>
            <a:off x="1028700" y="20383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Bottleneck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005570-F620-494F-9624-478781A4D968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Order taking remains the main bottleneck because it starts the service chain and affects all following stages.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07996F-474B-420C-AE68-9D13BD9F3BDE}"/>
              </a:ext>
            </a:extLst>
          </p:cNvPr>
          <p:cNvSpPr>
            <a:spLocks noGrp="1"/>
          </p:cNvSpPr>
          <p:nvPr/>
        </p:nvSpPr>
        <p:spPr>
          <a:xfrm>
            <a:off x="6115050" y="1809750"/>
            <a:ext cx="4762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946ED2-6488-4AEC-927B-4F293BE0D7BE}"/>
              </a:ext>
            </a:extLst>
          </p:cNvPr>
          <p:cNvSpPr>
            <a:spLocks noGrp="1"/>
          </p:cNvSpPr>
          <p:nvPr/>
        </p:nvSpPr>
        <p:spPr>
          <a:xfrm>
            <a:off x="6362700" y="20383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Lost sales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AB780F-922D-4D22-A84C-264C61B08C79}"/>
              </a:ext>
            </a:extLst>
          </p:cNvPr>
          <p:cNvSpPr>
            <a:spLocks noGrp="1"/>
          </p:cNvSpPr>
          <p:nvPr/>
        </p:nvSpPr>
        <p:spPr>
          <a:xfrm>
            <a:off x="6362700" y="241935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Peak demand creates 23 rejected vehicles, showing that a full lane can directly reduce possible sales.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214F1A-E33D-428E-8DD2-B5388EC59915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4762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D289A5-0D8F-44EC-AD52-BC6E7E80B8C0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Optimization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00C751-0AAA-4F18-B2C0-768E44A75D12}"/>
              </a:ext>
            </a:extLst>
          </p:cNvPr>
          <p:cNvSpPr>
            <a:spLocks noGrp="1"/>
          </p:cNvSpPr>
          <p:nvPr/>
        </p:nvSpPr>
        <p:spPr>
          <a:xfrm>
            <a:off x="1028700" y="42291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Adding capacity eliminates rejections and lowers average queue wait to 0.29 minutes.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9E98C9-13E7-4F2B-BE5A-9A28B54F0BC9}"/>
              </a:ext>
            </a:extLst>
          </p:cNvPr>
          <p:cNvSpPr>
            <a:spLocks noGrp="1"/>
          </p:cNvSpPr>
          <p:nvPr/>
        </p:nvSpPr>
        <p:spPr>
          <a:xfrm>
            <a:off x="6115050" y="3619500"/>
            <a:ext cx="4762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173E79-A074-42B3-8312-56F248AB3D28}"/>
              </a:ext>
            </a:extLst>
          </p:cNvPr>
          <p:cNvSpPr>
            <a:spLocks noGrp="1"/>
          </p:cNvSpPr>
          <p:nvPr/>
        </p:nvSpPr>
        <p:spPr>
          <a:xfrm>
            <a:off x="6362700" y="38481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Customer 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0B6ABE-FC01-46BB-BA12-D3584D050E55}"/>
              </a:ext>
            </a:extLst>
          </p:cNvPr>
          <p:cNvSpPr>
            <a:spLocks noGrp="1"/>
          </p:cNvSpPr>
          <p:nvPr/>
        </p:nvSpPr>
        <p:spPr>
          <a:xfrm>
            <a:off x="6362700" y="42291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Average total system time improves from 7.12 minutes during peak demand to 4.51 minutes after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37647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FA810CB-842F-45F2-BA07-2481777BAFD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Queue Wait 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D45A62-E1C3-43F3-8408-90A984319F04}"/>
              </a:ext>
            </a:extLst>
          </p:cNvPr>
          <p:cNvSpPr>
            <a:spLocks noGrp="1"/>
          </p:cNvSpPr>
          <p:nvPr/>
        </p:nvSpPr>
        <p:spPr>
          <a:xfrm>
            <a:off x="628650" y="1009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Average queue wait is the clearest customer-experience indicator.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CD7A8-CF10-46EE-B0A3-ACE22F6CC147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30911B0-E55C-44A6-BE5B-CF69D0847FD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AE0A45-117F-4CB2-8BE1-80703D51AC7E}"/>
              </a:ext>
            </a:extLst>
          </p:cNvPr>
          <p:cNvSpPr>
            <a:spLocks noGrp="1"/>
          </p:cNvSpPr>
          <p:nvPr/>
        </p:nvSpPr>
        <p:spPr>
          <a:xfrm>
            <a:off x="1524000" y="2095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4FE77-F395-4FA8-BA41-252B81CEFD60}"/>
              </a:ext>
            </a:extLst>
          </p:cNvPr>
          <p:cNvSpPr>
            <a:spLocks noGrp="1"/>
          </p:cNvSpPr>
          <p:nvPr/>
        </p:nvSpPr>
        <p:spPr>
          <a:xfrm>
            <a:off x="3524250" y="2000250"/>
            <a:ext cx="2308860" cy="4953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46FDAD-5488-4726-9185-A7F84261EAF1}"/>
              </a:ext>
            </a:extLst>
          </p:cNvPr>
          <p:cNvSpPr>
            <a:spLocks noGrp="1"/>
          </p:cNvSpPr>
          <p:nvPr/>
        </p:nvSpPr>
        <p:spPr>
          <a:xfrm>
            <a:off x="6023610" y="21145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2.02 min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7CC2AA-6D2A-47F1-AA26-464A47F3387E}"/>
              </a:ext>
            </a:extLst>
          </p:cNvPr>
          <p:cNvSpPr>
            <a:spLocks noGrp="1"/>
          </p:cNvSpPr>
          <p:nvPr/>
        </p:nvSpPr>
        <p:spPr>
          <a:xfrm>
            <a:off x="1524000" y="3048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Peak demand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4DF663-56E1-4C51-96A8-B5FF464023AD}"/>
              </a:ext>
            </a:extLst>
          </p:cNvPr>
          <p:cNvSpPr>
            <a:spLocks noGrp="1"/>
          </p:cNvSpPr>
          <p:nvPr/>
        </p:nvSpPr>
        <p:spPr>
          <a:xfrm>
            <a:off x="3524250" y="2952750"/>
            <a:ext cx="3268980" cy="495300"/>
          </a:xfrm>
          <a:prstGeom prst="rect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5F753B-0C29-452C-BF2D-C6F140392C9D}"/>
              </a:ext>
            </a:extLst>
          </p:cNvPr>
          <p:cNvSpPr>
            <a:spLocks noGrp="1"/>
          </p:cNvSpPr>
          <p:nvPr/>
        </p:nvSpPr>
        <p:spPr>
          <a:xfrm>
            <a:off x="6983730" y="30670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2.86 min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E71423-BB24-4DDF-A713-32AB7B9300D1}"/>
              </a:ext>
            </a:extLst>
          </p:cNvPr>
          <p:cNvSpPr>
            <a:spLocks noGrp="1"/>
          </p:cNvSpPr>
          <p:nvPr/>
        </p:nvSpPr>
        <p:spPr>
          <a:xfrm>
            <a:off x="1524000" y="4000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Optimized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3CE4C4-0680-421C-822A-F39612F89137}"/>
              </a:ext>
            </a:extLst>
          </p:cNvPr>
          <p:cNvSpPr>
            <a:spLocks noGrp="1"/>
          </p:cNvSpPr>
          <p:nvPr/>
        </p:nvSpPr>
        <p:spPr>
          <a:xfrm>
            <a:off x="3524250" y="3905250"/>
            <a:ext cx="331470" cy="4953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25E46D-0EFA-4852-8BC8-55FDA56838CF}"/>
              </a:ext>
            </a:extLst>
          </p:cNvPr>
          <p:cNvSpPr>
            <a:spLocks noGrp="1"/>
          </p:cNvSpPr>
          <p:nvPr/>
        </p:nvSpPr>
        <p:spPr>
          <a:xfrm>
            <a:off x="4046220" y="40195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0.29 min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1219A26-6FF4-4334-A29D-23B3F2DC952D}"/>
              </a:ext>
            </a:extLst>
          </p:cNvPr>
          <p:cNvSpPr>
            <a:spLocks noGrp="1"/>
          </p:cNvSpPr>
          <p:nvPr/>
        </p:nvSpPr>
        <p:spPr>
          <a:xfrm>
            <a:off x="8187690" y="2004822"/>
            <a:ext cx="3143250" cy="296265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C879D-E620-4A10-9736-093A480EC42C}"/>
              </a:ext>
            </a:extLst>
          </p:cNvPr>
          <p:cNvSpPr>
            <a:spLocks noGrp="1"/>
          </p:cNvSpPr>
          <p:nvPr/>
        </p:nvSpPr>
        <p:spPr>
          <a:xfrm>
            <a:off x="8434578" y="242144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A6BBAB-8428-4E5B-A04C-60E357AACA0F}"/>
              </a:ext>
            </a:extLst>
          </p:cNvPr>
          <p:cNvSpPr>
            <a:spLocks noGrp="1"/>
          </p:cNvSpPr>
          <p:nvPr/>
        </p:nvSpPr>
        <p:spPr>
          <a:xfrm>
            <a:off x="8449818" y="2914650"/>
            <a:ext cx="2381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Peak demand raises waiting time by about 42% versus baseline. The optimized setup reduces peak waiting by about 90%, which is the strongest evidence that added capacity improves service flow.</a:t>
            </a:r>
          </a:p>
        </p:txBody>
      </p:sp>
    </p:spTree>
    <p:extLst>
      <p:ext uri="{BB962C8B-B14F-4D97-AF65-F5344CB8AC3E}">
        <p14:creationId xmlns:p14="http://schemas.microsoft.com/office/powerpoint/2010/main" val="1537966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F88A93B-937B-41BB-A889-EDB704AB2D8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Conclusions and Recommendations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38846E-369B-4C4E-BFCE-78EBB8B37A32}"/>
              </a:ext>
            </a:extLst>
          </p:cNvPr>
          <p:cNvSpPr>
            <a:spLocks noGrp="1"/>
          </p:cNvSpPr>
          <p:nvPr/>
        </p:nvSpPr>
        <p:spPr>
          <a:xfrm>
            <a:off x="628650" y="1009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DriveQueue shows how simulation supports real service-system decisions.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12CE04-E37B-4FCD-B041-1FEDE8B767F7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DriveQueue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9377AE9-1930-44D1-9D4C-BD4726AE05A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89CD1C-69F7-4E04-8CA6-04C82E20370C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5000625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32F6FF-ACAA-4C7F-8659-56B4EABB4861}"/>
              </a:ext>
            </a:extLst>
          </p:cNvPr>
          <p:cNvSpPr>
            <a:spLocks noGrp="1"/>
          </p:cNvSpPr>
          <p:nvPr/>
        </p:nvSpPr>
        <p:spPr>
          <a:xfrm>
            <a:off x="1085850" y="2143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50D010-AE1D-4970-89D8-78B4205E7AB5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The model identifies bottlenecks before real changes are made.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Peak demand causes longer waits and more rejected vehicles.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Optimized capacity gives the best balance of throughput and customer experience.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6D7310-A023-4CA0-91C0-BE4C6A324B7A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5000625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B68753-2C67-4F7A-9087-0A1775012E2F}"/>
              </a:ext>
            </a:extLst>
          </p:cNvPr>
          <p:cNvSpPr>
            <a:spLocks noGrp="1"/>
          </p:cNvSpPr>
          <p:nvPr/>
        </p:nvSpPr>
        <p:spPr>
          <a:xfrm>
            <a:off x="6819900" y="21431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397E78-97D7-4C90-9F96-AF40A444EBCB}"/>
              </a:ext>
            </a:extLst>
          </p:cNvPr>
          <p:cNvSpPr>
            <a:spLocks noGrp="1"/>
          </p:cNvSpPr>
          <p:nvPr/>
        </p:nvSpPr>
        <p:spPr>
          <a:xfrm>
            <a:off x="6819900" y="2705100"/>
            <a:ext cx="4095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Improve the order stage during peak hours.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Use added staff or faster order-taking tools.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Support pickup coordination when demand is high.</a:t>
            </a:r>
          </a:p>
          <a:p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Monitor lost vehicles as a warning sign of lane congestion.</a:t>
            </a:r>
          </a:p>
        </p:txBody>
      </p:sp>
    </p:spTree>
    <p:extLst>
      <p:ext uri="{BB962C8B-B14F-4D97-AF65-F5344CB8AC3E}">
        <p14:creationId xmlns:p14="http://schemas.microsoft.com/office/powerpoint/2010/main" val="1981590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7D609D-423F-4500-8752-D9DA5B9C35C8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7048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D5E281-9051-49E5-8784-D5E94A192D9A}"/>
              </a:ext>
            </a:extLst>
          </p:cNvPr>
          <p:cNvSpPr>
            <a:spLocks noGrp="1"/>
          </p:cNvSpPr>
          <p:nvPr/>
        </p:nvSpPr>
        <p:spPr>
          <a:xfrm>
            <a:off x="1200150" y="3048000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DriveQueue: Drive-Thru Service System Performance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1055301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Microsoft Office PowerPoint</Application>
  <DocSecurity>0</DocSecurity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sharkpog129@outlook.com</cp:lastModifiedBy>
  <cp:revision>1</cp:revision>
  <dcterms:created xsi:type="dcterms:W3CDTF">2026-06-16T01:07:43Z</dcterms:created>
  <dcterms:modified xsi:type="dcterms:W3CDTF">2026-06-16T02:04:51Z</dcterms:modified>
</cp:coreProperties>
</file>